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My project is an adaptive email spam detection system using AI and</a:t>
            </a:r>
          </a:p>
          <a:p>
            <a:r>
              <a:t>content-metadata fusion. I am Lee Gong Yi, supervised by Dr. Abdulrahman Aminu Ghali.</a:t>
            </a:r>
          </a:p>
          <a:p>
            <a:r>
              <a:t>[30 seconds. Do not read the slide - say it and move 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Briefly: I will cover the problem, the gap in existing work, my four objectives,</a:t>
            </a:r>
          </a:p>
          <a:p>
            <a:r>
              <a:t>the system design, my results, and conclusions.</a:t>
            </a:r>
          </a:p>
          <a:p>
            <a:r>
              <a:t>[30 seconds. The brief asks for an outline - this slide satisfies that.]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Email is still the main attack vector. Nearly half of all email is spam, business email</a:t>
            </a:r>
          </a:p>
          <a:p>
            <a:r>
              <a:t>compromise cost 2.77 billion dollars last year across twenty-one thousand complaints, and</a:t>
            </a:r>
          </a:p>
          <a:p>
            <a:r>
              <a:t>users click phishing links in a median of twenty-one seconds - faster than any manual review.</a:t>
            </a:r>
          </a:p>
          <a:p/>
          <a:p>
            <a:r>
              <a:t>Two things make this harder now. BEC messages contain no links and no keywords, so anything</a:t>
            </a:r>
          </a:p>
          <a:p>
            <a:r>
              <a:t>built on signatures misses them. And language models let attackers write fluent, typo-free</a:t>
            </a:r>
          </a:p>
          <a:p>
            <a:r>
              <a:t>phishing at scale.</a:t>
            </a:r>
          </a:p>
          <a:p>
            <a:r>
              <a:t>[2 minutes. These three numbers are the whole slide - say each one, then what it means.]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 filters break when attackers reword. Content models read what a message says but not how</a:t>
            </a:r>
          </a:p>
          <a:p>
            <a:r>
              <a:t>it is built. Metadata catches structural anomalies but is bypassed by well-formed mail sent</a:t>
            </a:r>
          </a:p>
          <a:p>
            <a:r>
              <a:t>from a properly configured account. Commercial filters work at scale but are proprietary, so</a:t>
            </a:r>
          </a:p>
          <a:p>
            <a:r>
              <a:t>they cannot be benchmarked offline.</a:t>
            </a:r>
          </a:p>
          <a:p/>
          <a:p>
            <a:r>
              <a:t>My argument is that content and metadata are complementary rather than competing, and that</a:t>
            </a:r>
          </a:p>
          <a:p>
            <a:r>
              <a:t>very few published systems are locally deployable, explainable and adaptive at the same time.</a:t>
            </a:r>
          </a:p>
          <a:p>
            <a:r>
              <a:t>[1.5 minutes.]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objectives: extract content and metadata features; fuse them into one pipeline; train and</a:t>
            </a:r>
          </a:p>
          <a:p>
            <a:r>
              <a:t>compare three classifiers; and implement adaptive retraining from reviewed samples.</a:t>
            </a:r>
          </a:p>
          <a:p>
            <a:r>
              <a:t>[1 minute. Read them briefly - do not dwell, the detail comes in the results.]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message is parsed to RFC 5322, then three feature streams are extracted.</a:t>
            </a:r>
          </a:p>
          <a:p/>
          <a:p>
            <a:r>
              <a:t>Word TF-IDF captures phrasing. Character n-grams, three to five characters, survive</a:t>
            </a:r>
          </a:p>
          <a:p>
            <a:r>
              <a:t>obfuscation such as inserted symbols. And thirteen structural metadata signals - URL count,</a:t>
            </a:r>
          </a:p>
          <a:p>
            <a:r>
              <a:t>unique link domains, sender-to-link domain mismatch, reply-to presence, SPF and DKIM</a:t>
            </a:r>
          </a:p>
          <a:p>
            <a:r>
              <a:t>indicators, casing and urgency statistics.</a:t>
            </a:r>
          </a:p>
          <a:p/>
          <a:p>
            <a:r>
              <a:t>These are fused into a single sparse vector, the metadata is standardised so raw lengths</a:t>
            </a:r>
          </a:p>
          <a:p>
            <a:r>
              <a:t>cannot dominate the normalised text features, and a class-balanced logistic regression</a:t>
            </a:r>
          </a:p>
          <a:p>
            <a:r>
              <a:t>produces a spam probability. Above the threshold the message is quarantined - never deleted.</a:t>
            </a:r>
          </a:p>
          <a:p>
            <a:r>
              <a:t>Every decision goes to a review queue, and reviewer corrections feed the next retraining cycle.</a:t>
            </a:r>
          </a:p>
          <a:p>
            <a:r>
              <a:t>[2 minutes. This is the core slide. Point at each stream as you name it.]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is implemented in Python with scikit-learn and FastAPI. It trained on 81,152</a:t>
            </a:r>
          </a:p>
          <a:p>
            <a:r>
              <a:t>de-duplicated public emails from six merged corpora, and it runs entirely on a commodity CPU -</a:t>
            </a:r>
          </a:p>
          <a:p>
            <a:r>
              <a:t>no graphics processor - at a median of thirteen milliseconds per email.</a:t>
            </a:r>
          </a:p>
          <a:p/>
          <a:p>
            <a:r>
              <a:t>It includes a live IMAP watcher that connects over TLS on port 993, a quarantine action, a</a:t>
            </a:r>
          </a:p>
          <a:p>
            <a:r>
              <a:t>browser review console and a feedback store for retraining.</a:t>
            </a:r>
          </a:p>
          <a:p>
            <a:r>
              <a:t>[1.5 minutes.]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held-out split of 20,288 emails the fused model reached 99.2% accuracy, precision</a:t>
            </a:r>
          </a:p>
          <a:p>
            <a:r>
              <a:t>0.991, recall 0.992 and ROC-AUC of 1.000.</a:t>
            </a:r>
          </a:p>
          <a:p/>
          <a:p>
            <a:r>
              <a:t>The number that matters operationally is the false-positive rate of 0.9% - ninety of nine</a:t>
            </a:r>
          </a:p>
          <a:p>
            <a:r>
              <a:t>thousand eight hundred legitimate messages. Blocking legitimate mail is the costlier error in</a:t>
            </a:r>
          </a:p>
          <a:p>
            <a:r>
              <a:t>an organisation, so that is the figure I optimised around.</a:t>
            </a:r>
          </a:p>
          <a:p/>
          <a:p>
            <a:r>
              <a:t>One clarification: the ROC-AUC of 1.000 is rounded. It is not literally perfect - it means the</a:t>
            </a:r>
          </a:p>
          <a:p>
            <a:r>
              <a:t>model ranks spam above legitimate mail almost without exception on this corpus.</a:t>
            </a:r>
          </a:p>
          <a:p>
            <a:r>
              <a:t>[2.5 minutes. Volunteer the AUC rounding point - it pre-empts a question.]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five configurations used the same split, the same preprocessing and the same default</a:t>
            </a:r>
          </a:p>
          <a:p>
            <a:r>
              <a:t>threshold, so the comparison reflects only the classifier and the feature set.</a:t>
            </a:r>
          </a:p>
          <a:p/>
          <a:p>
            <a:r>
              <a:t>Naive Bayes was weakest at 0.968 - it predicts spam conservatively, so it has high precision</a:t>
            </a:r>
          </a:p>
          <a:p>
            <a:r>
              <a:t>but the lowest recall at 0.950, missing about five percent of phishing.</a:t>
            </a:r>
          </a:p>
          <a:p/>
          <a:p>
            <a:r>
              <a:t>Adding metadata raised recall for both linear classifiers: logistic regression from 0.990 to</a:t>
            </a:r>
          </a:p>
          <a:p>
            <a:r>
              <a:t>0.994, SVM from 0.993 to 0.995. That is the fusion design working as intended.</a:t>
            </a:r>
          </a:p>
          <a:p/>
          <a:p>
            <a:r>
              <a:t>The SVM was marginally highest at 0.993 versus 0.992 - one thousandth, within noise. I deployed</a:t>
            </a:r>
          </a:p>
          <a:p>
            <a:r>
              <a:t>logistic regression because it outputs a calibrated probability. That is what lets me tune the</a:t>
            </a:r>
          </a:p>
          <a:p>
            <a:r>
              <a:t>threshold and show a confidence value and signal explanation. Explainability was a stated</a:t>
            </a:r>
          </a:p>
          <a:p>
            <a:r>
              <a:t>objective, so I took the tunable model over a statistically indistinguishable alternative.</a:t>
            </a:r>
          </a:p>
          <a:p>
            <a:r>
              <a:t>[1.5 minutes. Expect a question here - this answer is the answer.]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tested the detector on 4,986 phishing emails generated by GPT-4.1, DeepSeek 3.2 and</a:t>
            </a:r>
          </a:p>
          <a:p>
            <a:r>
              <a:t>LLaMA 3.3. None of these were used in training - this is a pure generalisation test.</a:t>
            </a:r>
          </a:p>
          <a:p/>
          <a:p>
            <a:r>
              <a:t>It caught 92% at a recall-focused threshold and 84% at the deployed 0.55.</a:t>
            </a:r>
          </a:p>
          <a:p/>
          <a:p>
            <a:r>
              <a:t>The important observation is the shape of that curve: the catch rate falls faster than it does</a:t>
            </a:r>
          </a:p>
          <a:p>
            <a:r>
              <a:t>on classic phishing, which means the model is systematically less confident on AI-written mail.</a:t>
            </a:r>
          </a:p>
          <a:p>
            <a:r>
              <a:t>That is evidence these messages are genuinely harder, and it is the direct motivation for the</a:t>
            </a:r>
          </a:p>
          <a:p>
            <a:r>
              <a:t>adaptive retraining mechanism I show next.</a:t>
            </a:r>
          </a:p>
          <a:p>
            <a:r>
              <a:t>[2 minutes.]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one reviewed retraining cycle on a disjoint feedback batch, ranking on the modern-threat</a:t>
            </a:r>
          </a:p>
          <a:p>
            <a:r>
              <a:t>set improved from AUC 0.81 to 0.945, while recall held at 95% and main-corpus accuracy was</a:t>
            </a:r>
          </a:p>
          <a:p>
            <a:r>
              <a:t>maintained at 0.991. In a controlled before-and-after on a held-out campaign, messages caught</a:t>
            </a:r>
          </a:p>
          <a:p>
            <a:r>
              <a:t>rose from zero out of six to five out of six.</a:t>
            </a:r>
          </a:p>
          <a:p/>
          <a:p>
            <a:r>
              <a:t>I want to be honest about the scope. I measured the similarity between the feedback batch and</a:t>
            </a:r>
          </a:p>
          <a:p>
            <a:r>
              <a:t>that test set: sixteen of the thirty test messages have a TF-IDF cosine similarity of 0.70 or</a:t>
            </a:r>
          </a:p>
          <a:p>
            <a:r>
              <a:t>above to at least one feedback message, although no message appears in both sets. So this</a:t>
            </a:r>
          </a:p>
          <a:p>
            <a:r>
              <a:t>should be read as adaptation to a threat family represented in the feedback, not as a general</a:t>
            </a:r>
          </a:p>
          <a:p>
            <a:r>
              <a:t>gain on arbitrary unseen threats. I report that in Section 6.2.4.</a:t>
            </a:r>
          </a:p>
          <a:p/>
          <a:p>
            <a:r>
              <a:t>Retraining is reviewer-initiated, and a candidate model is deployed only if it does not reduce</a:t>
            </a:r>
          </a:p>
          <a:p>
            <a:r>
              <a:t>ranking quality on the held-out split.</a:t>
            </a:r>
          </a:p>
          <a:p>
            <a:r>
              <a:t>[2 minutes. Volunteering the similarity limit is the strongest thing you can do here.]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conclude: all four objectives were achieved. 99.2% accuracy at a 0.9% false-positive rate,</a:t>
            </a:r>
          </a:p>
          <a:p>
            <a:r>
              <a:t>thirteen milliseconds on a CPU, 92% on unseen AI-generated phishing, and measurable adaptation</a:t>
            </a:r>
          </a:p>
          <a:p>
            <a:r>
              <a:t>from reviewed feedback.</a:t>
            </a:r>
          </a:p>
          <a:p/>
          <a:p>
            <a:r>
              <a:t>Two limitations I measured rather than assumed. First, URL counting reads only the plain-text</a:t>
            </a:r>
          </a:p>
          <a:p>
            <a:r>
              <a:t>MIME part, so links inside HTML href attributes are not counted - that under-counts on modern</a:t>
            </a:r>
          </a:p>
          <a:p>
            <a:r>
              <a:t>marketing mail. Second, the authentication signals learned the association inversely: the</a:t>
            </a:r>
          </a:p>
          <a:p>
            <a:r>
              <a:t>legitimate mail in the public corpus predates SPF and DKIM while much of the spam carries them,</a:t>
            </a:r>
          </a:p>
          <a:p>
            <a:r>
              <a:t>so the model associates their presence with spam. I isolated this with a controlled test - the</a:t>
            </a:r>
          </a:p>
          <a:p>
            <a:r>
              <a:t>same message scored 11.5% with the authentication headers removed and 100% with them present.</a:t>
            </a:r>
          </a:p>
          <a:p>
            <a:r>
              <a:t>It is invisible on the held-out split because the distribution matches, but it inflates scores</a:t>
            </a:r>
          </a:p>
          <a:p>
            <a:r>
              <a:t>on live mail.</a:t>
            </a:r>
          </a:p>
          <a:p/>
          <a:p>
            <a:r>
              <a:t>Future work: HTML-aware URL extraction, a training corpus containing modern legitimate mail</a:t>
            </a:r>
          </a:p>
          <a:p>
            <a:r>
              <a:t>with authentication headers, and a head-to-head comparison against commercial filters on one</a:t>
            </a:r>
          </a:p>
          <a:p>
            <a:r>
              <a:t>shared labelled corpus.</a:t>
            </a:r>
          </a:p>
          <a:p/>
          <a:p>
            <a:r>
              <a:t>Thank you. I am happy to take questions.</a:t>
            </a:r>
          </a:p>
          <a:p>
            <a:r>
              <a:t>[1.5 minutes. Say the limitations before you are asked - it reads as confidence.]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Adaptive Email Spam Detection Using AI</a:t>
            </a:r>
          </a:p>
          <a:p>
            <a:pPr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and Content–Metadata Fusion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C7DAF2"/>
                </a:solidFill>
                <a:latin typeface="Calibri"/>
              </a:rPr>
              <a:t>Lee Gong Yi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C7DAF2"/>
                </a:solidFill>
                <a:latin typeface="Calibri"/>
              </a:rPr>
              <a:t>Supervisor: Dr. Abdulrahman Aminu Ghali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9EBCE0"/>
                </a:solidFill>
                <a:latin typeface="Calibri"/>
              </a:rPr>
              <a:t>Faculty of Information and Communication Technology, UTAR Kampar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A37"/>
                </a:solidFill>
                <a:latin typeface="Calibri"/>
              </a:rPr>
              <a:t>•  The problem and why it is getting harder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A37"/>
                </a:solidFill>
                <a:latin typeface="Calibri"/>
              </a:rPr>
              <a:t>•  Gap in existing detection approaches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A37"/>
                </a:solidFill>
                <a:latin typeface="Calibri"/>
              </a:rPr>
              <a:t>•  Objectives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A37"/>
                </a:solidFill>
                <a:latin typeface="Calibri"/>
              </a:rPr>
              <a:t>•  System design and implementation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A37"/>
                </a:solidFill>
                <a:latin typeface="Calibri"/>
              </a:rPr>
              <a:t>•  Results: main corpus, classifier comparison, AI-generated phishing, adaptation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A37"/>
                </a:solidFill>
                <a:latin typeface="Calibri"/>
              </a:rPr>
              <a:t>•  Conclusion, limitations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7DAF2"/>
                </a:solidFill>
                <a:latin typeface="Calibri"/>
              </a:rPr>
              <a:t>Email remains the primary attack vector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~47%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of world email traffic is spam (Kaspersky, 2024)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53619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USD 2.77bn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BEC losses, 21,442 complaints (FBI IC3, 2024)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53619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21 s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median time to click a phishing link (Verizon DBIR)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Business email compromise contains no links and no keywords — signature filters miss it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Large language models now write fluent, personalised phishing at scale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Concept drift: a model trained once degrades as campaigns evolve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Gap in Existing Approaches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91840"/>
                <a:gridCol w="4480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Weakness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Rule / keyword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Explainable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Brittle; evaded by rewording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Content classifiers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Learns from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Ignores message structure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Metadata / reputation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Catches anomalies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Weak alone; evaded by clean BEC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Commercial cloud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Massive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Proprietary; not reproducible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Content and metadata are complementary, not competing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Few published systems are locally deployable, explainable AND adaptive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 Extract content features (body, subject, URLs) and metadata features (sender, header attributes) from raw email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 Design a content–metadata fusion framework combining both in one machine-learning pipeline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 Train and evaluate Naïve Bayes, logistic regression and support vector machines on the fused feature set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F2A37"/>
                </a:solidFill>
                <a:latin typeface="Calibri"/>
              </a:rPr>
              <a:t>•  Implement an adaptive retraining mechanism that updates the model with newly reviewed samples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System Design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7DAF2"/>
                </a:solidFill>
                <a:latin typeface="Calibri"/>
              </a:rPr>
              <a:t>Three feature streams fused into one classifier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875">
            <a:solidFill>
              <a:srgbClr val="B6C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B6672"/>
                </a:solidFill>
              </a:rPr>
              <a:t>[ INSERT Figure 4.1 — system block diagram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Python 3.13, scikit-learn, FastAPI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Trained on 81,152 de-duplicated public emails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Runs on a commodity CPU — no GPU required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Live IMAP watcher over TLS, port 993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Quarantine, review console, feedback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237744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1907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81,152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emails after de-duplication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554480"/>
            <a:ext cx="237744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71907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13 ms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median latency per email (CPU)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383280"/>
            <a:ext cx="237744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54787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13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structural metadata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3383280"/>
            <a:ext cx="237744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547872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75 / 25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stratified train / test split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 — Held-out Test Split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7DAF2"/>
                </a:solidFill>
                <a:latin typeface="Calibri"/>
              </a:rPr>
              <a:t>n = 20,288 emails never seen in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65176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9047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99.2%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25880"/>
            <a:ext cx="265176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49047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0.991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265176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49047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0.992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325880"/>
            <a:ext cx="265176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490472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1.000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ROC-AUC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20040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Confusion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True positives (phishing caught)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10,399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False negatives (phishing missed)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True negatives (legitimate passed)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9,719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False positives (legitimate flagged)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858000" y="3200400"/>
            <a:ext cx="4572000" cy="192024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42900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B2B5B"/>
                </a:solidFill>
                <a:latin typeface="Calibri"/>
              </a:rPr>
              <a:t>False-positive rate ≈ 0.9%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90 of 9,809 legitimate messages flagged.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B6672"/>
                </a:solidFill>
                <a:latin typeface="Calibri"/>
              </a:rPr>
              <a:t>Blocking legitimate mail is the costlier error, so this is the operationally important figure.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Classifier and Feature-Group Comparison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7DAF2"/>
                </a:solidFill>
                <a:latin typeface="Calibri"/>
              </a:rPr>
              <a:t>Same split, same preprocessing, 0.5 threshold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37160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Naïve Bayes (content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Logistic regression (content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Linear SVM (content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Logistic regression (fusion — deployed)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Linear SVM (fusion)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A37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F2A37"/>
                </a:solidFill>
                <a:latin typeface="Calibri"/>
              </a:rPr>
              <a:t>•  Fusion raised recall over content-only for both linear classifiers — metadata bought additional phishing caught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A37"/>
                </a:solidFill>
                <a:latin typeface="Calibri"/>
              </a:rPr>
              <a:t>•  SVM led by 0.001 (within noise); logistic regression deployed for calibrated probability, tunable threshold and explainable signals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Generalisation to AI-Generated Phishing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7DAF2"/>
                </a:solidFill>
                <a:latin typeface="Calibri"/>
              </a:rPr>
              <a:t>4,986 emails from GPT-4.1, DeepSeek 3.2 and LLaMA 3.3 — never trained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10896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92%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caught at a recall-focused threshold (4,565 / 4,986)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463040"/>
            <a:ext cx="310896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9080" y="1627632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84%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caught at the deployed 0.55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463040"/>
            <a:ext cx="3108960" cy="150876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627632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73E8"/>
                </a:solidFill>
              </a:rPr>
              <a:t>0</a:t>
            </a:r>
          </a:p>
          <a:p>
            <a:pPr algn="ctr"/>
            <a:r>
              <a:rPr sz="1300">
                <a:solidFill>
                  <a:srgbClr val="5B6672"/>
                </a:solidFill>
              </a:rPr>
              <a:t>AI-generated emails used in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3291840"/>
            <a:ext cx="7406640" cy="29260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5875">
            <a:solidFill>
              <a:srgbClr val="B6C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4480560"/>
            <a:ext cx="7406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B6672"/>
                </a:solidFill>
              </a:rPr>
              <a:t>[ INSERT Figure 6.3 — catch rate versus decision threshold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Adaptive Retraining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C7DAF2"/>
                </a:solidFill>
                <a:latin typeface="Calibri"/>
              </a:rPr>
              <a:t>One reviewed retraining cycle on a disjoint feedback batch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6583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ROC-AUC (modern-threat 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0.945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Phishing recall at 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Main-corpus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0.991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0.991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Demo campaign caught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0 /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Calibri"/>
                        </a:rPr>
                        <a:t>5 / 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463040"/>
            <a:ext cx="3749039" cy="310896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15875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6916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B2B5B"/>
                </a:solidFill>
                <a:latin typeface="Calibri"/>
              </a:rPr>
              <a:t>Scope of the claim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16 of the 30 test messages share a threat family with the feedback batch (TF-IDF cosine ≥ 0.70). No message appears in both sets.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37"/>
                </a:solidFill>
                <a:latin typeface="Calibri"/>
              </a:rPr>
              <a:t>Read as adaptation to a represented threat family, not a general 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F2A37"/>
                </a:solidFill>
                <a:latin typeface="Calibri"/>
              </a:rPr>
              <a:t>•  Validation gate: a candidate model replaces the deployed one only if ranking quality on the held-out split is not reduced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Conclusion, 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All four objectives achieved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99.2% accuracy, 0.9% FPR, 13 ms on CPU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92% on unseen LLM-generated phishing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37"/>
                </a:solidFill>
                <a:latin typeface="Calibri"/>
              </a:rPr>
              <a:t>•  Measurable adaptation from reviewed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120640" cy="301752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5875">
            <a:solidFill>
              <a:srgbClr val="C7D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B2B5B"/>
                </a:solidFill>
                <a:latin typeface="Calibri"/>
              </a:rPr>
              <a:t>Two limitations I measured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URL counting reads only the plain-text MIME part, so links inside HTML are not counted.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Authentication signals learned inversely: the corpus's legitimate mail predates SPF, so SPF presence correlates with spam. Same message scored 11.5% without auth headers, 100% with.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F2A37"/>
                </a:solidFill>
                <a:latin typeface="Calibri"/>
              </a:rPr>
              <a:t>•  Future work: HTML-aware URL extraction; a corpus with modern legitimate mail; head-to-head commercial comparison on one shared labelled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